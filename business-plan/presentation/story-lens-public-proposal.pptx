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66928"/>
            <a:ext cx="2011680" cy="384048"/>
          </a:xfrm>
          <a:prstGeom prst="roundRect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58368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2026 시범사업 검토안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115568"/>
            <a:ext cx="6675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꿈꾸는 카메라 기반
AI 사진·글·음악 창작지원 사업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331720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65584C"/>
                </a:solidFill>
                <a:latin typeface="Malgun Gothic"/>
              </a:rPr>
              <a:t>이천시청 · 장애인 협회 제안용
Story Lens 기반 디지털 문화복지 시범 프로젝트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822960"/>
            <a:ext cx="4023360" cy="530352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51560"/>
            <a:ext cx="3657600" cy="46634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13232" y="38404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사업 개요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605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사진 편집, AI 글쓰기, AI 음악, 사진집 PDF를 하나의 흐름으로 연결</a:t>
            </a:r>
          </a:p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꿈꾸는 카메라 8명 대상 · 10개월 운영형 시범사업(안)</a:t>
            </a:r>
          </a:p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결과물이 남는 문화예술·디지털 포용 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Story Lens · Public Proposal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추진 배경 및 필요성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꿈꾸는 카메라에서 우선 검증하고 다른 프로그램으로 확장할 수 있는 디지털 창작 모델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2011680"/>
            <a:ext cx="4846320" cy="361188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22402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261E"/>
                </a:solidFill>
                <a:latin typeface="Malgun Gothic"/>
              </a:rPr>
              <a:t>현장의 간극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633472"/>
            <a:ext cx="4343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5584C"/>
                </a:solidFill>
                <a:latin typeface="Malgun Gothic"/>
              </a:defRPr>
            </a:pPr>
            <a:r>
              <a:t>사진 촬영 활동은 많지만 편집 이후의 기록과 결과물화가 약합니다.</a:t>
            </a:r>
          </a:p>
          <a:p>
            <a:pPr>
              <a:defRPr sz="1700">
                <a:solidFill>
                  <a:srgbClr val="65584C"/>
                </a:solidFill>
                <a:latin typeface="Malgun Gothic"/>
              </a:defRPr>
            </a:pPr>
            <a:r>
              <a:t>장애 당사자가 스스로 완성 경험을 느끼기보다는 지도자가 마무리를 대신하는 경우가 많습니다.</a:t>
            </a:r>
          </a:p>
          <a:p>
            <a:pPr>
              <a:defRPr sz="1700">
                <a:solidFill>
                  <a:srgbClr val="65584C"/>
                </a:solidFill>
                <a:latin typeface="Malgun Gothic"/>
              </a:defRPr>
            </a:pPr>
            <a:r>
              <a:t>디지털 도구는 복잡하고, 사진·글·음악·출력물이 분절되어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011680"/>
            <a:ext cx="1874519" cy="14173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2139696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자기표현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2468880"/>
            <a:ext cx="15453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사진을 통해 감정과 기억을 말하고 싶은 수요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45552" y="2011680"/>
            <a:ext cx="1874519" cy="14173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139696"/>
            <a:ext cx="15453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디지털 포용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2468880"/>
            <a:ext cx="15453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AI를 보조도구로 활용한 접근성 있는 창작 경험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84664" y="2011680"/>
            <a:ext cx="1645920" cy="141732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2139696"/>
            <a:ext cx="13167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성과 축적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9256" y="2468880"/>
            <a:ext cx="13167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결과집과 보고자료로 남는 프로그램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3840480"/>
            <a:ext cx="2788920" cy="141732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71031" y="3968496"/>
            <a:ext cx="24597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행정 친화성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1" y="4297680"/>
            <a:ext cx="24597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사진집 PDF, 전시 자료, 보고서로 바로 전환 가능한 산출물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8240" y="3840480"/>
            <a:ext cx="2752344" cy="141732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42832" y="3968496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지역 확장성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4297680"/>
            <a:ext cx="242316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이천시 복지관·학교·협회 협력으로 확산 가능한 구조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사업 운영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한 장의 사진이 기록과 창작 결과로 이어지는 6단계 흐름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2057400"/>
            <a:ext cx="324612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2219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① 사진 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60604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촬영 또는 앨범 업로드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2057400"/>
            <a:ext cx="3246120" cy="132588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1" y="22219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② 주제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1" y="260604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추천 키워드 또는 직접 입력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2057400"/>
            <a:ext cx="3246120" cy="132588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22199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③ 간편 편집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0604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필터·슬라이더·회전 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840480"/>
            <a:ext cx="324612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0050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④ AI 글쓰기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3891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한 줄 생각 → 최대 5줄 초안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59" y="3840480"/>
            <a:ext cx="3246120" cy="132588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1" y="40050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⑤ AI 음악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1" y="43891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스타일 선택 후 음악 생성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840480"/>
            <a:ext cx="3246120" cy="132588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400507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⑥ 사진집 제작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389120"/>
            <a:ext cx="2788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보관함 축적 후 PDF 결과집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앱 화면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앱의 주요 흐름을 설명하기 위한 시연 화면 기준으로 편집·글쓰기·음악·사진집 구조를 보여줍니다.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65960"/>
            <a:ext cx="2743200" cy="1965960"/>
          </a:xfrm>
          <a:prstGeom prst="rect">
            <a:avLst/>
          </a:prstGeom>
        </p:spPr>
      </p:pic>
      <p:pic>
        <p:nvPicPr>
          <p:cNvPr id="18" name="Picture 17" descr="gallery-det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965960"/>
            <a:ext cx="2743200" cy="1965960"/>
          </a:xfrm>
          <a:prstGeom prst="rect">
            <a:avLst/>
          </a:prstGeom>
        </p:spPr>
      </p:pic>
      <p:pic>
        <p:nvPicPr>
          <p:cNvPr id="19" name="Picture 18" descr="wr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965960"/>
            <a:ext cx="2697480" cy="1965960"/>
          </a:xfrm>
          <a:prstGeom prst="rect">
            <a:avLst/>
          </a:prstGeom>
        </p:spPr>
      </p:pic>
      <p:pic>
        <p:nvPicPr>
          <p:cNvPr id="20" name="Picture 19" descr="mus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1965960"/>
            <a:ext cx="2084831" cy="19659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404164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85D3A"/>
                </a:solidFill>
                <a:latin typeface="Malgun Gothic"/>
              </a:rPr>
              <a:t>홈 화면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4164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85D3A"/>
                </a:solidFill>
                <a:latin typeface="Malgun Gothic"/>
              </a:rPr>
              <a:t>보관함 상세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04164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85D3A"/>
                </a:solidFill>
                <a:latin typeface="Malgun Gothic"/>
              </a:rPr>
              <a:t>AI 글쓰기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041648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A85D3A"/>
                </a:solidFill>
                <a:latin typeface="Malgun Gothic"/>
              </a:rPr>
              <a:t>AI 음악 생성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572000"/>
            <a:ext cx="10789920" cy="114300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006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※ 실제 앱은 로그인, 촬영/업로드, 편집, AI 글쓰기, AI 음악, 보관함, 사진집 PDF 흐름이 구현되어 있으며, AI 생성 시간은 외부 서비스 상태에 따라 달라질 수 있습니다.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참여자 지원 관점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아동과 성인 모두가 이해하기 쉬운 단계형 UI를 기본 전제로 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011680"/>
            <a:ext cx="3520440" cy="14173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139696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장애아동 참여자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68880"/>
            <a:ext cx="319125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큰 버튼, 직관적인 화면 이동, 사진 한 장에서 출발하는 창작 경험을 통해 자신감을 높입니다.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2011680"/>
            <a:ext cx="3520440" cy="14173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5424" y="2139696"/>
            <a:ext cx="3191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장애성인 참여자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35424" y="2468880"/>
            <a:ext cx="319125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자신의 기억과 감정을 스스로 표현하고, 사진·글·음악을 연결하는 성취 경험을 제공합니다.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2011680"/>
            <a:ext cx="3429000" cy="141732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6448" y="2139696"/>
            <a:ext cx="30998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보호자·운영자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2468880"/>
            <a:ext cx="309981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결과물을 함께 확인하고 다음 활동으로 이어가기 쉬운 구조를 제공합니다.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886200"/>
            <a:ext cx="10671048" cy="178308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33087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운영 시 고려 포인트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8056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접근성을 고려한 단계형 UI를 활용하되, 실제 현장 적용 시 참여자별 지원 강도는 다르게 설계합니다.</a:t>
            </a:r>
          </a:p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AI 글쓰기와 음악 생성은 외부 서비스 연동 기능이므로, 수업 중에는 대기 시간을 분리해 운영하는 것이 안정적입니다.</a:t>
            </a:r>
          </a:p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보조인력, 보호자, 활동지원사와의 협력 구조를 함께 설계하면 몰입도와 완성도가 높아집니다.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10개월 운영 로드맵(안)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이천시 지역 기반 문화복지 프로그램으로 운영 가능한 월별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011680"/>
            <a:ext cx="196596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1579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3월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249631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오리엔테이션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62656" y="2011680"/>
            <a:ext cx="1965960" cy="132588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21579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4월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249631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봄꽃·감정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75504" y="2011680"/>
            <a:ext cx="1965960" cy="132588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21808" y="21579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5월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21808" y="249631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풍경과 장소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88352" y="2011680"/>
            <a:ext cx="196596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34656" y="21579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6월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249631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자연 표현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011680"/>
            <a:ext cx="1965960" cy="132588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215798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7월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49631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여름과 움직임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3749039"/>
            <a:ext cx="1965960" cy="132588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389534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8월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233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일상 회고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62656" y="3749039"/>
            <a:ext cx="196596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0" y="389534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9월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233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캠핑·야외활동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75504" y="3749039"/>
            <a:ext cx="1965960" cy="132588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21808" y="389534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10월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1808" y="4233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전통과 문화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88352" y="3749039"/>
            <a:ext cx="1965960" cy="132588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389534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11월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4656" y="4233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AI 창작 집중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3749039"/>
            <a:ext cx="1965960" cy="132588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47504" y="3895344"/>
            <a:ext cx="7315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12월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47504" y="4233672"/>
            <a:ext cx="1600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2E261E"/>
                </a:solidFill>
                <a:latin typeface="Malgun Gothic"/>
              </a:rPr>
              <a:t>회고·사진집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9808" y="5468112"/>
            <a:ext cx="10671048" cy="384048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559552"/>
            <a:ext cx="10241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월별 일정 화면은 운영 관리 기능이 아니라 예시형 활동 콘텐츠로 활용하는 것을 권장합니다.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회기 운영 예시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사진 한 장에서 시작해 결과물이 남도록 구성한 100분 프로그램 예시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240280"/>
            <a:ext cx="1920240" cy="21031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24231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10분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78892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261E"/>
                </a:solidFill>
                <a:latin typeface="Malgun Gothic"/>
              </a:rPr>
              <a:t>도입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15468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오늘의 주제 소개 · 감정 단어 열기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240280"/>
            <a:ext cx="1920240" cy="21031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54679" y="24231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25분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79" y="278892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261E"/>
                </a:solidFill>
                <a:latin typeface="Malgun Gothic"/>
              </a:rPr>
              <a:t>촬영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315468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현장 또는 앨범 이미지 탐색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85232" y="2240280"/>
            <a:ext cx="1920240" cy="210312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22392" y="24231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25분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278892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261E"/>
                </a:solidFill>
                <a:latin typeface="Malgun Gothic"/>
              </a:rPr>
              <a:t>편집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2392" y="315468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필터·슬라이더·회전 조정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52944" y="2240280"/>
            <a:ext cx="1920240" cy="21031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90104" y="24231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20분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0104" y="278892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261E"/>
                </a:solidFill>
                <a:latin typeface="Malgun Gothic"/>
              </a:rPr>
              <a:t>글쓰기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4" y="315468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한 줄 생각 입력 · AI 초안 보조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0656" y="2240280"/>
            <a:ext cx="1920240" cy="21031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57816" y="2423160"/>
            <a:ext cx="822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20분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57816" y="278892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2E261E"/>
                </a:solidFill>
                <a:latin typeface="Malgun Gothic"/>
              </a:rPr>
              <a:t>확장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6" y="315468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AI 음악 또는 결과 공유</a:t>
            </a:r>
          </a:p>
        </p:txBody>
      </p:sp>
      <p:pic>
        <p:nvPicPr>
          <p:cNvPr id="37" name="Picture 36" descr="gallery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4572000"/>
            <a:ext cx="3154680" cy="17830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86384" y="470916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5584C"/>
                </a:solidFill>
                <a:latin typeface="Malgun Gothic"/>
              </a:rPr>
              <a:t>운영자는 보관함 상세 화면을 통해 사진·글·음악을 함께 확인하며 참여자의 변화와 성취를 점검할 수 있습니다.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기대 효과 및 산출물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참여자, 가족, 기관 모두에게 남는 결과를 정리합니다.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011680"/>
            <a:ext cx="3337560" cy="14173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139696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참여자 변화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68880"/>
            <a:ext cx="300837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사진을 통해 감정을 표현하고, 글과 음악으로 확장하는 자기표현 경험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3984" y="2011680"/>
            <a:ext cx="3337560" cy="14173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08576" y="2139696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가족과 보호자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2468880"/>
            <a:ext cx="300837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눈으로 확인 가능한 결과물과 사진집이 가족 공유 자료가 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2011680"/>
            <a:ext cx="3337560" cy="141732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2752" y="2139696"/>
            <a:ext cx="30083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기관 성과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2468880"/>
            <a:ext cx="300837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전시·보고서·발표 자료로 활용할 수 있는 시각적 성과 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3977639"/>
            <a:ext cx="5669280" cy="169164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87952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대표 산출물(안)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526280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사진·글·음악 연계 결과물 48건 목표</a:t>
            </a:r>
          </a:p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개인 또는 공동 사진집 PDF 1종 이상</a:t>
            </a:r>
          </a:p>
          <a:p>
            <a:pPr>
              <a:defRPr sz="1300">
                <a:solidFill>
                  <a:srgbClr val="65584C"/>
                </a:solidFill>
                <a:latin typeface="Malgun Gothic"/>
              </a:defRPr>
            </a:pPr>
            <a:r>
              <a:t>성과공유회 또는 전시용 인쇄물 제작</a:t>
            </a:r>
          </a:p>
        </p:txBody>
      </p:sp>
      <p:pic>
        <p:nvPicPr>
          <p:cNvPr id="29" name="Picture 28" descr="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959352"/>
            <a:ext cx="4736592" cy="17830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성과지표(KPI) 제안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시범사업 평가에 활용할 수 있는 기본 지표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148840"/>
            <a:ext cx="2423160" cy="192024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237744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85D3A"/>
                </a:solidFill>
                <a:latin typeface="Malgun Gothic"/>
              </a:rPr>
              <a:t>직접 참여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274320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E261E"/>
                </a:solidFill>
                <a:latin typeface="Malgun Gothic"/>
              </a:rPr>
              <a:t>8명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3383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5584C"/>
                </a:solidFill>
                <a:latin typeface="Malgun Gothic"/>
              </a:rPr>
              <a:t>장애아동 및 성인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148840"/>
            <a:ext cx="2423160" cy="192024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12463" y="237744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85D3A"/>
                </a:solidFill>
                <a:latin typeface="Malgun Gothic"/>
              </a:rPr>
              <a:t>운영 협력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2463" y="274320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E261E"/>
                </a:solidFill>
                <a:latin typeface="Malgun Gothic"/>
              </a:rPr>
              <a:t>7명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3" y="3383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5584C"/>
                </a:solidFill>
                <a:latin typeface="Malgun Gothic"/>
              </a:rPr>
              <a:t>선생님 6 + 복지사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79" y="2148840"/>
            <a:ext cx="2423160" cy="192024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3" y="237744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85D3A"/>
                </a:solidFill>
                <a:latin typeface="Malgun Gothic"/>
              </a:rPr>
              <a:t>1인당 결과물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3" y="274320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E261E"/>
                </a:solidFill>
                <a:latin typeface="Malgun Gothic"/>
              </a:rPr>
              <a:t>6건+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3" y="3383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5584C"/>
                </a:solidFill>
                <a:latin typeface="Malgun Gothic"/>
              </a:rPr>
              <a:t>사진 또는 연계 창작물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3999" y="2148840"/>
            <a:ext cx="2423160" cy="192024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90303" y="237744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85D3A"/>
                </a:solidFill>
                <a:latin typeface="Malgun Gothic"/>
              </a:rPr>
              <a:t>긍정 응답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3" y="2743200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E261E"/>
                </a:solidFill>
                <a:latin typeface="Malgun Gothic"/>
              </a:rPr>
              <a:t>80%+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0303" y="338328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0">
                <a:solidFill>
                  <a:srgbClr val="65584C"/>
                </a:solidFill>
                <a:latin typeface="Malgun Gothic"/>
              </a:rPr>
              <a:t>참여자·보호자 의견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480560"/>
            <a:ext cx="10607040" cy="123444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4709160"/>
            <a:ext cx="101498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※ 본 지표는 시범사업 제안 기준이며, 실제 운영 시 기관 목표와 예산 조건에 따라 조정 가능합니다. AI 생성 기능은 외부 서비스 상태에 따라 시간이 달라질 수 있으므로, 성공률과 소요 시간도 함께 기록하는 것을 권장합니다.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예산 총괄(추정안)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총 사업비 14,000,000원 기준 · 꿈꾸는 카메라 1차 적용 가정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2011680"/>
            <a:ext cx="2926080" cy="173736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30428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85D3A"/>
                </a:solidFill>
                <a:latin typeface="Malgun Gothic"/>
              </a:rPr>
              <a:t>총 사업비(추정)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7432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2E261E"/>
                </a:solidFill>
                <a:latin typeface="Malgun Gothic"/>
              </a:rPr>
              <a:t>14,000,000원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69080" y="2240280"/>
            <a:ext cx="1548580" cy="411480"/>
          </a:xfrm>
          <a:prstGeom prst="roundRect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80" y="2761488"/>
            <a:ext cx="15485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운영기획 3.0백만원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27388" y="2240280"/>
            <a:ext cx="1238864" cy="411480"/>
          </a:xfrm>
          <a:prstGeom prst="roundRect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27388" y="2761488"/>
            <a:ext cx="1238864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프로그램 운영 2.4백만원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75981" y="2240280"/>
            <a:ext cx="1445341" cy="411480"/>
          </a:xfrm>
          <a:prstGeom prst="roundRect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75981" y="2761488"/>
            <a:ext cx="144534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결과물 제작 2.8백만원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31051" y="2240280"/>
            <a:ext cx="1073682" cy="411480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051" y="2761488"/>
            <a:ext cx="1097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플랫폼·AI 2.1백만원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4461" y="2240280"/>
            <a:ext cx="1920240" cy="411480"/>
          </a:xfrm>
          <a:prstGeom prst="roundRect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14461" y="2761488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5584C"/>
                </a:solidFill>
                <a:latin typeface="Malgun Gothic"/>
              </a:rPr>
              <a:t>확장·예비비 3.7백만원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3383280"/>
            <a:ext cx="731520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3675887"/>
            <a:ext cx="6766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이천시청 지원금 10,000,000원(안)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협회/운영기관 분담 2,500,000원(안)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후원·협찬 연계 1,500,000원(안)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서버 100만원/년, AI 약 9만원/월 기준이며 확장 시 비용 증가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협력 구조와 역할 분담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공공재원, 협회 운영, 실무 실행이 나뉘는 구조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65960"/>
            <a:ext cx="3474720" cy="14173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09397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이천시청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423160"/>
            <a:ext cx="31455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사업비 지원, 공공 협력, 지역 확산, 성과 보고 연계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1688" y="1965960"/>
            <a:ext cx="3474720" cy="1417320"/>
          </a:xfrm>
          <a:prstGeom prst="roundRect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09397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장애인 협회 및 복지기관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79" y="2423160"/>
            <a:ext cx="31455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참여자 모집, 현장 운영, 보호자 소통, 일정 협력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73568" y="1965960"/>
            <a:ext cx="3474720" cy="1417320"/>
          </a:xfrm>
          <a:prstGeom prst="roundRect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09397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2E261E"/>
                </a:solidFill>
                <a:latin typeface="Malgun Gothic"/>
              </a:rPr>
              <a:t>운영팀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423160"/>
            <a:ext cx="314553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교육 설계, 앱 운영, 강사 배치, 결과집 제작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160520"/>
            <a:ext cx="10058400" cy="132588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4440" y="4407408"/>
            <a:ext cx="95097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i="0">
                <a:solidFill>
                  <a:srgbClr val="2E261E"/>
                </a:solidFill>
                <a:latin typeface="Malgun Gothic"/>
              </a:rPr>
              <a:t>권장 운영 형태: 꿈꾸는 카메라 현장 운영 + 협회 협력 + 시청 지원 + 향후 프로그램 확장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92040"/>
            <a:ext cx="9509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5584C"/>
                </a:solidFill>
                <a:latin typeface="Malgun Gothic"/>
              </a:rPr>
              <a:t>→ 공공성, 지속성, 참여자 지원 강도를 함께 확보할 수 있는 구조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이천시청·장애인 협회 협력 제안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365760"/>
            <a:ext cx="502920" cy="502920"/>
          </a:xfrm>
          <a:prstGeom prst="ellipse">
            <a:avLst/>
          </a:prstGeom>
          <a:solidFill>
            <a:srgbClr val="F5E4D5"/>
          </a:solidFill>
          <a:ln>
            <a:solidFill>
              <a:srgbClr val="F5E4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109960" y="685800"/>
            <a:ext cx="320040" cy="320040"/>
          </a:xfrm>
          <a:prstGeom prst="ellipse">
            <a:avLst/>
          </a:prstGeom>
          <a:solidFill>
            <a:srgbClr val="E4EFE8"/>
          </a:solidFill>
          <a:ln>
            <a:solidFill>
              <a:srgbClr val="E4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35640" y="1051560"/>
            <a:ext cx="256032" cy="256032"/>
          </a:xfrm>
          <a:prstGeom prst="ellipse">
            <a:avLst/>
          </a:prstGeom>
          <a:solidFill>
            <a:srgbClr val="E7EFF5"/>
          </a:solidFill>
          <a:ln>
            <a:solidFill>
              <a:srgbClr val="E7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📷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6236208"/>
            <a:ext cx="384048" cy="384048"/>
          </a:xfrm>
          <a:prstGeom prst="ellipse">
            <a:avLst/>
          </a:prstGeom>
          <a:solidFill>
            <a:srgbClr val="E4EFE8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✍</a:t>
            </a:r>
          </a:p>
        </p:txBody>
      </p:sp>
      <p:sp>
        <p:nvSpPr>
          <p:cNvPr id="9" name="Oval 8"/>
          <p:cNvSpPr/>
          <p:nvPr/>
        </p:nvSpPr>
        <p:spPr>
          <a:xfrm>
            <a:off x="1417320" y="6236208"/>
            <a:ext cx="384048" cy="384048"/>
          </a:xfrm>
          <a:prstGeom prst="ellipse">
            <a:avLst/>
          </a:prstGeom>
          <a:solidFill>
            <a:srgbClr val="E7EFF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♪</a:t>
            </a:r>
          </a:p>
        </p:txBody>
      </p:sp>
      <p:sp>
        <p:nvSpPr>
          <p:cNvPr id="11" name="Oval 10"/>
          <p:cNvSpPr/>
          <p:nvPr/>
        </p:nvSpPr>
        <p:spPr>
          <a:xfrm>
            <a:off x="1920240" y="6236208"/>
            <a:ext cx="384048" cy="384048"/>
          </a:xfrm>
          <a:prstGeom prst="ellipse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6254496"/>
            <a:ext cx="38404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261E"/>
                </a:solidFill>
                <a:latin typeface="Malgun Gothic"/>
              </a:rP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4048"/>
            <a:ext cx="29260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85D3A"/>
                </a:solidFill>
                <a:latin typeface="Malgun Gothic"/>
              </a:rPr>
              <a:t>Story Lens Proposal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749808"/>
            <a:ext cx="71323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2E261E"/>
                </a:solidFill>
                <a:latin typeface="Malgun Gothic"/>
              </a:rPr>
              <a:t>제안 요약 및 검토 요청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29844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65584C"/>
                </a:solidFill>
                <a:latin typeface="Malgun Gothic"/>
              </a:rPr>
              <a:t>사진 한 장에서 시작하는 디지털 문화복지 시범사업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1700784"/>
            <a:ext cx="10972800" cy="18288"/>
          </a:xfrm>
          <a:prstGeom prst="rect">
            <a:avLst/>
          </a:prstGeom>
          <a:solidFill>
            <a:srgbClr val="E4D8CA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" y="1965960"/>
            <a:ext cx="6629400" cy="3246120"/>
          </a:xfrm>
          <a:prstGeom prst="roundRect">
            <a:avLst/>
          </a:prstGeom>
          <a:solidFill>
            <a:srgbClr val="FFFBF6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240280"/>
            <a:ext cx="6126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85D3A"/>
                </a:solidFill>
                <a:latin typeface="Malgun Gothic"/>
              </a:rPr>
              <a:t>왜 Story Lens인가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2697480"/>
            <a:ext cx="5989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사진 편집, AI 글쓰기, AI 음악, 사진집 제작까지 실제 구현된 흐름을 기반으로 함</a:t>
            </a:r>
          </a:p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장애아동과 성인이 자기표현 결과를 직접 완성하는 경험을 중심에 둠</a:t>
            </a:r>
          </a:p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성과물이 눈에 보이기 때문에 공공기관 보고와 지역 확산에 적합함</a:t>
            </a:r>
          </a:p>
          <a:p>
            <a:pPr>
              <a:defRPr sz="1500">
                <a:solidFill>
                  <a:srgbClr val="65584C"/>
                </a:solidFill>
                <a:latin typeface="Malgun Gothic"/>
              </a:defRPr>
            </a:pPr>
            <a:r>
              <a:t>시범사업 운영 후 학교·복지관·축제 연계로 확장 가능한 구조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1965960"/>
            <a:ext cx="3794760" cy="3246120"/>
          </a:xfrm>
          <a:prstGeom prst="roundRect">
            <a:avLst/>
          </a:prstGeom>
          <a:solidFill>
            <a:srgbClr val="F5E4D5"/>
          </a:solidFill>
          <a:ln>
            <a:solidFill>
              <a:srgbClr val="E4D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22402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A85D3A"/>
                </a:solidFill>
                <a:latin typeface="Malgun Gothic"/>
              </a:rPr>
              <a:t>검토 요청 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697480"/>
            <a:ext cx="3154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꿈꾸는 카메라 1차 적용 예산 구조 협의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운영기관/협회 역할 분담 확정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참여자 8명 기준 운영안 확정</a:t>
            </a:r>
          </a:p>
          <a:p>
            <a:pPr>
              <a:defRPr sz="1400">
                <a:solidFill>
                  <a:srgbClr val="65584C"/>
                </a:solidFill>
                <a:latin typeface="Malgun Gothic"/>
              </a:defRPr>
            </a:pPr>
            <a:r>
              <a:t>확장 시 웹 운영비·AI 비용 증가 구조 논의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65584C"/>
                </a:solidFill>
                <a:latin typeface="Malgun Gothic"/>
              </a:rPr>
              <a:t>제안서, 예산안, 앱 매뉴얼, 실제 앱 스크린샷을 함께 제시하여 협의용 설명 자료로 바로 활용할 수 있도록 구성했습니다.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19088"/>
            <a:ext cx="5303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5584C"/>
                </a:solidFill>
                <a:latin typeface="Malgun Gothic"/>
              </a:rPr>
              <a:t>Story Lens · pilot proposal deck for Icheon City Hall &amp; disability associations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